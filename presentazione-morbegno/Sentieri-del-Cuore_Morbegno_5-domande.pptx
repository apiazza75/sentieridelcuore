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· DA DOVE NASCE L'IDEA? — Alessandro Piazza · 2:00
0:00–0:30  Chi siamo: Capitolo BNI Valtellina, 28 imprese del territorio. Nel 2026 compiamo dieci anni.
0:30–1:10  La scelta: non una festa, ma un segno tangibile sul territorio. Qualcosa che resti e che serva a tutti.
1:10–1:50  Perché il Sentiero Valtellina: decine di migliaia di passaggi l'anno, il luogo dove la valle cammina, corre, pedala e porta i bambini in bici. Spesso a minuti dalla strada carrozzabile. Un arresto cardiaco concede cinque minuti.
1:50–2:00  Ponte: "Da lì, un'idea semplice: rendere cardioprotetto il sentiero di tutti". Passaggio a Pier.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· COME SI PROGETTA UN SENTIERO CARDIOPROTETTO? — Pier · 2:00
0:00–0:30  Prima regola: non improvvisarsi tuttologi. Abbiamo chiesto a chi lo fa di mestiere.
0:30–1:10  Croce Rossa Italiana: con loro abbiamo individuato le zone dove vanno le colonnine (snodi, aree di sosta, punti con accessi e riferimenti chiari per il 118) e capito lo stato dell'arte della tecnologia: teca termoregolata, monitoraggio remoto, registrazione AREU.
1:10–1:45  Comunità Montana ed enti: contatti, nulla osta, posizioni lungo la tratta, allaccio elettrico. Comune di Morbegno e Sondrio per le concessioni.
1:45–2:00  Risultato: una postazione ogni ~5 km, DAE raggiungibile nella finestra utile. Ponte: "E cosa regaliamo, esattamente?"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· COSA LASCIAMO AL TERRITORIO? — 2:00
0:00–0:35  Siamo andati in Comunità Montana con una proposta chiara: "vi regaliamo un progetto a cui non dovrete far fronte voi negli anni".
0:35–1:15  Il regalo è completo: colonnina (disegno dell'arch. Pier Luigi Pastori, profilo a elettrocardiogramma, legno lamellare), DAE, teca termoregolata, registrazione AREU 118, monitoraggio remoto e manutenzione esclusiva di Croce Rossa.
1:15–1:45  Presidiate, in ordine, monitorate: l'infrastruttura resta viva ben oltre il giorno dell'inaugurazione. Nessun orario, nessuna chiave, nessuna barriera.
1:45–2:00  Ponte: "E tutto questo chi lo realizza? Ve lo mostriamo: la prima è già in piedi."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· DALL'IDEA AL SENTIERO: A CHE PUNTO SIAMO? — 2:00
0:00–0:40  La filiera: progettazione, permessi, costruzione, posa, governance e sicurezza. Ogni anello è un professionista della rete BNI. Senza agenzie né intermediari: ogni euro si vede.
0:40–1:20  La prima colonnina è già installata, nel comune di Albosaggia, in una zona particolarmente frequentata: 110.000 passaggi l'anno.
1:20–1:50  Da qui in avanti: le altre postazioni sulla tratta Morbegno–Sondrio, una ogni ~5 km, con targa dell'azienda che adotta.
1:50–2:00  Ponte: "E le imprese? Qui entra in gioco chi vive e fa vivere questo territorio."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PERCHÉ LA TUA IMPRESA DOVREBBE ESSERCI? — 2:00
0:00–0:40  Non solo BNI: tutte le aziende che da questo territorio prendono forza lavoro, che qui hanno le sedi, che creano posti di lavoro e opportunità per i giovani. Possono lasciare un segno tangibile della loro esistenza.
0:40–1:20  Cosa ricevono: una targa dedicata nel punto più frequentato della provincia, migliaia di passaggi a settimana, per tutta la durata dell'adozione. Un caso concreto per il bilancio sociale. E il DAE protegge prima di tutto le loro persone.
1:20–1:50  L'ambizione: coprire tutto il Sentiero Valtellina. Sarebbe il primo sentiero europeo cardioprotetto, già tra i primi per estensione come ciclopedonale. Un primato che arriva dal tessuto imprenditoriale valtellinese.
1:50–2:00  Chiusura: "Un gesto concreto oggi. Una vita salvata domani." Invito: adotta 1 DAE.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gif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gif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gif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gif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gif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: Sentiero Valtellina al tramonto" descr="/home/user/presentazione-morbegno/build/img/s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elatura scura" descr="/home/user/presentazione-morbegno/build/assets/ov-lef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arta millimetrata" descr="/home/user/presentazione-morbegno/build/assets/top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Marchio ECG" descr="/home/user/presentazione-morbegno/build/assets/ecg-mar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9768"/>
            <a:ext cx="457200" cy="314325"/>
          </a:xfrm>
          <a:prstGeom prst="rect">
            <a:avLst/>
          </a:prstGeom>
        </p:spPr>
      </p:pic>
      <p:sp>
        <p:nvSpPr>
          <p:cNvPr id="6" name="Brand"/>
          <p:cNvSpPr txBox="1"/>
          <p:nvPr/>
        </p:nvSpPr>
        <p:spPr>
          <a:xfrm>
            <a:off x="1115568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SENTIERO CARDIO-PROTETTO</a:t>
            </a:r>
            <a:endParaRPr lang="en-US" sz="1300" dirty="0"/>
          </a:p>
        </p:txBody>
      </p:sp>
      <p:sp>
        <p:nvSpPr>
          <p:cNvPr id="7" name="Brand sub"/>
          <p:cNvSpPr txBox="1"/>
          <p:nvPr/>
        </p:nvSpPr>
        <p:spPr>
          <a:xfrm>
            <a:off x="1115568" y="640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BNI VALTELLINA · 10° ANNIVERSARIO</a:t>
            </a:r>
            <a:endParaRPr lang="en-US" sz="750" dirty="0"/>
          </a:p>
        </p:txBody>
      </p:sp>
      <p:sp>
        <p:nvSpPr>
          <p:cNvPr id="8" name="Contatore slide"/>
          <p:cNvSpPr txBox="1"/>
          <p:nvPr/>
        </p:nvSpPr>
        <p:spPr>
          <a:xfrm>
            <a:off x="9811512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3F0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pPr algn="r" indent="0" marL="0">
              <a:buNone/>
            </a:pPr>
            <a:r>
              <a:rPr lang="en-US" sz="1100" b="1" spc="20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05</a:t>
            </a:r>
            <a:endParaRPr lang="en-US" sz="1100" dirty="0"/>
          </a:p>
        </p:txBody>
      </p:sp>
      <p:pic>
        <p:nvPicPr>
          <p:cNvPr id="9" name="Timer 2 minuti (GIF)" descr="/home/user/presentazione-morbegno/timer-2min-dark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  <p:sp>
        <p:nvSpPr>
          <p:cNvPr id="10" name="Eyebrow dash"/>
          <p:cNvSpPr/>
          <p:nvPr/>
        </p:nvSpPr>
        <p:spPr>
          <a:xfrm>
            <a:off x="548640" y="2007108"/>
            <a:ext cx="347472" cy="0"/>
          </a:xfrm>
          <a:prstGeom prst="line">
            <a:avLst/>
          </a:prstGeom>
          <a:noFill/>
          <a:ln w="22225">
            <a:solidFill>
              <a:srgbClr val="E11D2A"/>
            </a:solidFill>
            <a:prstDash val="solid"/>
          </a:ln>
        </p:spPr>
      </p:sp>
      <p:sp>
        <p:nvSpPr>
          <p:cNvPr id="11" name="Eyebrow"/>
          <p:cNvSpPr txBox="1"/>
          <p:nvPr/>
        </p:nvSpPr>
        <p:spPr>
          <a:xfrm>
            <a:off x="1024128" y="187452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1D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L'IDEA</a:t>
            </a:r>
            <a:endParaRPr lang="en-US" sz="1100" dirty="0"/>
          </a:p>
        </p:txBody>
      </p:sp>
      <p:sp>
        <p:nvSpPr>
          <p:cNvPr id="12" name="Domanda"/>
          <p:cNvSpPr txBox="1"/>
          <p:nvPr/>
        </p:nvSpPr>
        <p:spPr>
          <a:xfrm>
            <a:off x="548640" y="2212848"/>
            <a:ext cx="6583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 DOVE</a:t>
            </a:r>
            <a:endParaRPr lang="en-US" sz="6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NASCE</a:t>
            </a:r>
            <a:endParaRPr lang="en-US" sz="6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E11D2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L'IDEA</a:t>
            </a:r>
            <a:pPr algn="l"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?</a:t>
            </a:r>
            <a:endParaRPr lang="en-US" sz="6600" dirty="0"/>
          </a:p>
        </p:txBody>
      </p:sp>
      <p:sp>
        <p:nvSpPr>
          <p:cNvPr id="13" name="Claim"/>
          <p:cNvSpPr txBox="1"/>
          <p:nvPr/>
        </p:nvSpPr>
        <p:spPr>
          <a:xfrm>
            <a:off x="548640" y="4919472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CCD5D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Dieci anni di BNI Valtellina. </a:t>
            </a:r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F3F0E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Non una festa che finisce: un segno che resta</a:t>
            </a:r>
            <a:pPr algn="l"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CCD5D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lungo il sentiero dove la valle cammina, corre e pedala ogni giorno.</a:t>
            </a:r>
            <a:endParaRPr lang="en-US" sz="2100" dirty="0"/>
          </a:p>
        </p:txBody>
      </p:sp>
      <p:sp>
        <p:nvSpPr>
          <p:cNvPr id="14" name="Targhetta logo"/>
          <p:cNvSpPr/>
          <p:nvPr/>
        </p:nvSpPr>
        <p:spPr>
          <a:xfrm>
            <a:off x="9720072" y="5074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3F0E9"/>
          </a:solidFill>
          <a:ln w="12700">
            <a:solidFill>
              <a:srgbClr val="F3F0E9"/>
            </a:solidFill>
            <a:prstDash val="solid"/>
          </a:ln>
        </p:spPr>
      </p:sp>
      <p:pic>
        <p:nvPicPr>
          <p:cNvPr id="15" name="Logo BNI 10 anni Valtellina" descr="/home/user/sentieridelcuore/assets/bni-10-valtellin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5212080"/>
            <a:ext cx="1645920" cy="634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rta millimetrata" descr="/home/user/presentazione-morbegno/build/assets/topo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oto: la mappa con le cinque postazioni" descr="/home/user/presentazione-morbegno/build/img/s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0" y="0"/>
            <a:ext cx="6613855" cy="6053328"/>
          </a:xfrm>
          <a:prstGeom prst="rect">
            <a:avLst/>
          </a:prstGeom>
        </p:spPr>
      </p:pic>
      <p:pic>
        <p:nvPicPr>
          <p:cNvPr id="4" name="Sfumatura carta" descr="/home/user/presentazione-morbegno/build/assets/ov-fade-left-pa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0"/>
            <a:ext cx="6613855" cy="6053328"/>
          </a:xfrm>
          <a:prstGeom prst="rect">
            <a:avLst/>
          </a:prstGeom>
        </p:spPr>
      </p:pic>
      <p:pic>
        <p:nvPicPr>
          <p:cNvPr id="5" name="Marchio ECG" descr="/home/user/presentazione-morbegno/build/assets/ecg-mar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9768"/>
            <a:ext cx="457200" cy="314325"/>
          </a:xfrm>
          <a:prstGeom prst="rect">
            <a:avLst/>
          </a:prstGeom>
        </p:spPr>
      </p:pic>
      <p:sp>
        <p:nvSpPr>
          <p:cNvPr id="6" name="Brand"/>
          <p:cNvSpPr txBox="1"/>
          <p:nvPr/>
        </p:nvSpPr>
        <p:spPr>
          <a:xfrm>
            <a:off x="1115568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0B0F1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SENTIERO CARDIO-PROTETTO</a:t>
            </a:r>
            <a:endParaRPr lang="en-US" sz="1300" dirty="0"/>
          </a:p>
        </p:txBody>
      </p:sp>
      <p:sp>
        <p:nvSpPr>
          <p:cNvPr id="7" name="Brand sub"/>
          <p:cNvSpPr txBox="1"/>
          <p:nvPr/>
        </p:nvSpPr>
        <p:spPr>
          <a:xfrm>
            <a:off x="1115568" y="640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963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BNI VALTELLINA · 10° ANNIVERSARIO</a:t>
            </a:r>
            <a:endParaRPr lang="en-US" sz="750" dirty="0"/>
          </a:p>
        </p:txBody>
      </p:sp>
      <p:sp>
        <p:nvSpPr>
          <p:cNvPr id="8" name="Contatore slide"/>
          <p:cNvSpPr txBox="1"/>
          <p:nvPr/>
        </p:nvSpPr>
        <p:spPr>
          <a:xfrm>
            <a:off x="9811512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3F0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pPr algn="r" indent="0" marL="0">
              <a:buNone/>
            </a:pPr>
            <a:r>
              <a:rPr lang="en-US" sz="1100" b="1" spc="20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05</a:t>
            </a:r>
            <a:endParaRPr lang="en-US" sz="1100" dirty="0"/>
          </a:p>
        </p:txBody>
      </p:sp>
      <p:pic>
        <p:nvPicPr>
          <p:cNvPr id="9" name="Timer 2 minuti (GIF)" descr="/home/user/presentazione-morbegno/timer-2min-light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  <p:sp>
        <p:nvSpPr>
          <p:cNvPr id="10" name="Eyebrow dash"/>
          <p:cNvSpPr/>
          <p:nvPr/>
        </p:nvSpPr>
        <p:spPr>
          <a:xfrm>
            <a:off x="548640" y="1504188"/>
            <a:ext cx="347472" cy="0"/>
          </a:xfrm>
          <a:prstGeom prst="line">
            <a:avLst/>
          </a:prstGeom>
          <a:noFill/>
          <a:ln w="22225">
            <a:solidFill>
              <a:srgbClr val="E11D2A"/>
            </a:solidFill>
            <a:prstDash val="solid"/>
          </a:ln>
        </p:spPr>
      </p:sp>
      <p:sp>
        <p:nvSpPr>
          <p:cNvPr id="11" name="Eyebrow"/>
          <p:cNvSpPr txBox="1"/>
          <p:nvPr/>
        </p:nvSpPr>
        <p:spPr>
          <a:xfrm>
            <a:off x="1024128" y="137160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1D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IL PROGETTO</a:t>
            </a:r>
            <a:endParaRPr lang="en-US" sz="1100" dirty="0"/>
          </a:p>
        </p:txBody>
      </p:sp>
      <p:sp>
        <p:nvSpPr>
          <p:cNvPr id="12" name="Domanda"/>
          <p:cNvSpPr txBox="1"/>
          <p:nvPr/>
        </p:nvSpPr>
        <p:spPr>
          <a:xfrm>
            <a:off x="548640" y="1709928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0B0F1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COME SI PROGETTA</a:t>
            </a:r>
            <a:endParaRPr lang="en-US" sz="5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0B0F1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 SENTIERO</a:t>
            </a:r>
            <a:endParaRPr lang="en-US" sz="5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E11D2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CARDIO-</a:t>
            </a:r>
            <a:endParaRPr lang="en-US" sz="5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E11D2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PROTETTO</a:t>
            </a:r>
            <a:pPr algn="l"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0B0F1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?</a:t>
            </a:r>
            <a:endParaRPr lang="en-US" sz="5000" dirty="0"/>
          </a:p>
        </p:txBody>
      </p:sp>
      <p:sp>
        <p:nvSpPr>
          <p:cNvPr id="13" name="Claim"/>
          <p:cNvSpPr txBox="1"/>
          <p:nvPr/>
        </p:nvSpPr>
        <p:spPr>
          <a:xfrm>
            <a:off x="548640" y="4480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0B0F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Non ci siamo improvvisati. </a:t>
            </a:r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59636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Croce Rossa, AREU 118 e Comunità Montana hanno deciso con noi dove, come e con quale tecnologia. Nulla è lasciato al caso.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: la colonnina DAE sul sentiero al crepuscolo" descr="/home/user/presentazione-morbegno/build/img/s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elatura scura" descr="/home/user/presentazione-morbegno/build/assets/ov-lef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archio ECG" descr="/home/user/presentazione-morbegno/build/assets/ecg-mar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"/>
            <a:ext cx="457200" cy="314325"/>
          </a:xfrm>
          <a:prstGeom prst="rect">
            <a:avLst/>
          </a:prstGeom>
        </p:spPr>
      </p:pic>
      <p:sp>
        <p:nvSpPr>
          <p:cNvPr id="5" name="Brand"/>
          <p:cNvSpPr txBox="1"/>
          <p:nvPr/>
        </p:nvSpPr>
        <p:spPr>
          <a:xfrm>
            <a:off x="1115568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SENTIERO CARDIO-PROTETTO</a:t>
            </a:r>
            <a:endParaRPr lang="en-US" sz="1300" dirty="0"/>
          </a:p>
        </p:txBody>
      </p:sp>
      <p:sp>
        <p:nvSpPr>
          <p:cNvPr id="6" name="Brand sub"/>
          <p:cNvSpPr txBox="1"/>
          <p:nvPr/>
        </p:nvSpPr>
        <p:spPr>
          <a:xfrm>
            <a:off x="1115568" y="640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BNI VALTELLINA · 10° ANNIVERSARIO</a:t>
            </a:r>
            <a:endParaRPr lang="en-US" sz="750" dirty="0"/>
          </a:p>
        </p:txBody>
      </p:sp>
      <p:sp>
        <p:nvSpPr>
          <p:cNvPr id="7" name="Contatore slide"/>
          <p:cNvSpPr txBox="1"/>
          <p:nvPr/>
        </p:nvSpPr>
        <p:spPr>
          <a:xfrm>
            <a:off x="9811512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3F0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pPr algn="r" indent="0" marL="0">
              <a:buNone/>
            </a:pPr>
            <a:r>
              <a:rPr lang="en-US" sz="1100" b="1" spc="20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05</a:t>
            </a:r>
            <a:endParaRPr lang="en-US" sz="1100" dirty="0"/>
          </a:p>
        </p:txBody>
      </p:sp>
      <p:pic>
        <p:nvPicPr>
          <p:cNvPr id="8" name="Timer 2 minuti (GIF)" descr="/home/user/presentazione-morbegno/timer-2min-dark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  <p:sp>
        <p:nvSpPr>
          <p:cNvPr id="9" name="Eyebrow dash"/>
          <p:cNvSpPr/>
          <p:nvPr/>
        </p:nvSpPr>
        <p:spPr>
          <a:xfrm>
            <a:off x="548640" y="1732788"/>
            <a:ext cx="347472" cy="0"/>
          </a:xfrm>
          <a:prstGeom prst="line">
            <a:avLst/>
          </a:prstGeom>
          <a:noFill/>
          <a:ln w="22225">
            <a:solidFill>
              <a:srgbClr val="E11D2A"/>
            </a:solidFill>
            <a:prstDash val="solid"/>
          </a:ln>
        </p:spPr>
      </p:sp>
      <p:sp>
        <p:nvSpPr>
          <p:cNvPr id="10" name="Eyebrow"/>
          <p:cNvSpPr txBox="1"/>
          <p:nvPr/>
        </p:nvSpPr>
        <p:spPr>
          <a:xfrm>
            <a:off x="1024128" y="160020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1D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IL DONO AL TERRITORIO</a:t>
            </a:r>
            <a:endParaRPr lang="en-US" sz="1100" dirty="0"/>
          </a:p>
        </p:txBody>
      </p:sp>
      <p:sp>
        <p:nvSpPr>
          <p:cNvPr id="11" name="Domanda"/>
          <p:cNvSpPr txBox="1"/>
          <p:nvPr/>
        </p:nvSpPr>
        <p:spPr>
          <a:xfrm>
            <a:off x="548640" y="1938528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2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COSA</a:t>
            </a:r>
            <a:endParaRPr lang="en-US" sz="6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2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LASCIAMO AL</a:t>
            </a:r>
            <a:endParaRPr lang="en-US" sz="6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200" dirty="0">
                <a:solidFill>
                  <a:srgbClr val="E11D2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TERRITORIO</a:t>
            </a:r>
            <a:pPr algn="l" indent="0" marL="0">
              <a:lnSpc>
                <a:spcPct val="92000"/>
              </a:lnSpc>
              <a:buNone/>
            </a:pPr>
            <a:r>
              <a:rPr lang="en-US" sz="62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?</a:t>
            </a:r>
            <a:endParaRPr lang="en-US" sz="6200" dirty="0"/>
          </a:p>
        </p:txBody>
      </p:sp>
      <p:sp>
        <p:nvSpPr>
          <p:cNvPr id="12" name="Claim"/>
          <p:cNvSpPr txBox="1"/>
          <p:nvPr/>
        </p:nvSpPr>
        <p:spPr>
          <a:xfrm>
            <a:off x="548640" y="443484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3F0E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Non una colonnina: un presidio salvavita completo. </a:t>
            </a:r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CD5D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Costruzione, DAE, monitoraggio e manutenzione garantiti negli anni. L’ente pubblico non dovrà farsene carico.</a:t>
            </a:r>
            <a:endParaRPr lang="en-US" sz="1900" dirty="0"/>
          </a:p>
        </p:txBody>
      </p:sp>
      <p:sp>
        <p:nvSpPr>
          <p:cNvPr id="13" name="Punto 1"/>
          <p:cNvSpPr/>
          <p:nvPr/>
        </p:nvSpPr>
        <p:spPr>
          <a:xfrm>
            <a:off x="548640" y="5870448"/>
            <a:ext cx="82296" cy="82296"/>
          </a:xfrm>
          <a:prstGeom prst="ellipse">
            <a:avLst/>
          </a:prstGeom>
          <a:solidFill>
            <a:srgbClr val="E11D2A"/>
          </a:solidFill>
          <a:ln w="12700">
            <a:solidFill>
              <a:srgbClr val="E11D2A"/>
            </a:solidFill>
            <a:prstDash val="solid"/>
          </a:ln>
        </p:spPr>
      </p:sp>
      <p:sp>
        <p:nvSpPr>
          <p:cNvPr id="14" name="Etichetta 1"/>
          <p:cNvSpPr txBox="1"/>
          <p:nvPr/>
        </p:nvSpPr>
        <p:spPr>
          <a:xfrm>
            <a:off x="704088" y="5788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COLONNINA + DAE + TECA</a:t>
            </a:r>
            <a:endParaRPr lang="en-US" sz="850" dirty="0"/>
          </a:p>
        </p:txBody>
      </p:sp>
      <p:sp>
        <p:nvSpPr>
          <p:cNvPr id="15" name="Punto 2"/>
          <p:cNvSpPr/>
          <p:nvPr/>
        </p:nvSpPr>
        <p:spPr>
          <a:xfrm>
            <a:off x="3108960" y="5870448"/>
            <a:ext cx="82296" cy="82296"/>
          </a:xfrm>
          <a:prstGeom prst="ellipse">
            <a:avLst/>
          </a:prstGeom>
          <a:solidFill>
            <a:srgbClr val="E11D2A"/>
          </a:solidFill>
          <a:ln w="12700">
            <a:solidFill>
              <a:srgbClr val="E11D2A"/>
            </a:solidFill>
            <a:prstDash val="solid"/>
          </a:ln>
        </p:spPr>
      </p:sp>
      <p:sp>
        <p:nvSpPr>
          <p:cNvPr id="16" name="Etichetta 2"/>
          <p:cNvSpPr txBox="1"/>
          <p:nvPr/>
        </p:nvSpPr>
        <p:spPr>
          <a:xfrm>
            <a:off x="3264408" y="5788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MONITORAGGIO CROCE ROSSA</a:t>
            </a:r>
            <a:endParaRPr lang="en-US" sz="850" dirty="0"/>
          </a:p>
        </p:txBody>
      </p:sp>
      <p:sp>
        <p:nvSpPr>
          <p:cNvPr id="17" name="Punto 3"/>
          <p:cNvSpPr/>
          <p:nvPr/>
        </p:nvSpPr>
        <p:spPr>
          <a:xfrm>
            <a:off x="5669280" y="5870448"/>
            <a:ext cx="82296" cy="82296"/>
          </a:xfrm>
          <a:prstGeom prst="ellipse">
            <a:avLst/>
          </a:prstGeom>
          <a:solidFill>
            <a:srgbClr val="E11D2A"/>
          </a:solidFill>
          <a:ln w="12700">
            <a:solidFill>
              <a:srgbClr val="E11D2A"/>
            </a:solidFill>
            <a:prstDash val="solid"/>
          </a:ln>
        </p:spPr>
      </p:sp>
      <p:sp>
        <p:nvSpPr>
          <p:cNvPr id="18" name="Etichetta 3"/>
          <p:cNvSpPr txBox="1"/>
          <p:nvPr/>
        </p:nvSpPr>
        <p:spPr>
          <a:xfrm>
            <a:off x="5824728" y="5788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MANUTENZIONE GARANTITA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rta millimetrata" descr="/home/user/presentazione-morbegno/build/assets/topo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oto: il sentiero vissuto, ciclisti, runner e famiglie" descr="/home/user/presentazione-morbegno/build/img/s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1097280"/>
            <a:ext cx="6400800" cy="4956048"/>
          </a:xfrm>
          <a:prstGeom prst="rect">
            <a:avLst/>
          </a:prstGeom>
        </p:spPr>
      </p:pic>
      <p:pic>
        <p:nvPicPr>
          <p:cNvPr id="4" name="Sfumatura carta" descr="/home/user/presentazione-morbegno/build/assets/ov-fade-right-pa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80"/>
            <a:ext cx="6400800" cy="4956048"/>
          </a:xfrm>
          <a:prstGeom prst="rect">
            <a:avLst/>
          </a:prstGeom>
        </p:spPr>
      </p:pic>
      <p:pic>
        <p:nvPicPr>
          <p:cNvPr id="5" name="Marchio ECG" descr="/home/user/presentazione-morbegno/build/assets/ecg-mar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9768"/>
            <a:ext cx="457200" cy="314325"/>
          </a:xfrm>
          <a:prstGeom prst="rect">
            <a:avLst/>
          </a:prstGeom>
        </p:spPr>
      </p:pic>
      <p:sp>
        <p:nvSpPr>
          <p:cNvPr id="6" name="Brand"/>
          <p:cNvSpPr txBox="1"/>
          <p:nvPr/>
        </p:nvSpPr>
        <p:spPr>
          <a:xfrm>
            <a:off x="1115568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0B0F1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SENTIERO CARDIO-PROTETTO</a:t>
            </a:r>
            <a:endParaRPr lang="en-US" sz="1300" dirty="0"/>
          </a:p>
        </p:txBody>
      </p:sp>
      <p:sp>
        <p:nvSpPr>
          <p:cNvPr id="7" name="Brand sub"/>
          <p:cNvSpPr txBox="1"/>
          <p:nvPr/>
        </p:nvSpPr>
        <p:spPr>
          <a:xfrm>
            <a:off x="1115568" y="640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963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BNI VALTELLINA · 10° ANNIVERSARIO</a:t>
            </a:r>
            <a:endParaRPr lang="en-US" sz="750" dirty="0"/>
          </a:p>
        </p:txBody>
      </p:sp>
      <p:sp>
        <p:nvSpPr>
          <p:cNvPr id="8" name="Contatore slide"/>
          <p:cNvSpPr txBox="1"/>
          <p:nvPr/>
        </p:nvSpPr>
        <p:spPr>
          <a:xfrm>
            <a:off x="9811512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B0F1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pPr algn="r" indent="0" marL="0">
              <a:buNone/>
            </a:pPr>
            <a:r>
              <a:rPr lang="en-US" sz="1100" b="1" spc="200" kern="0" dirty="0">
                <a:solidFill>
                  <a:srgbClr val="5963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05</a:t>
            </a:r>
            <a:endParaRPr lang="en-US" sz="1100" dirty="0"/>
          </a:p>
        </p:txBody>
      </p:sp>
      <p:pic>
        <p:nvPicPr>
          <p:cNvPr id="9" name="Timer 2 minuti (GIF)" descr="/home/user/presentazione-morbegno/timer-2min-light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  <p:sp>
        <p:nvSpPr>
          <p:cNvPr id="10" name="Eyebrow dash"/>
          <p:cNvSpPr/>
          <p:nvPr/>
        </p:nvSpPr>
        <p:spPr>
          <a:xfrm>
            <a:off x="6720840" y="1367028"/>
            <a:ext cx="347472" cy="0"/>
          </a:xfrm>
          <a:prstGeom prst="line">
            <a:avLst/>
          </a:prstGeom>
          <a:noFill/>
          <a:ln w="22225">
            <a:solidFill>
              <a:srgbClr val="E11D2A"/>
            </a:solidFill>
            <a:prstDash val="solid"/>
          </a:ln>
        </p:spPr>
      </p:sp>
      <p:sp>
        <p:nvSpPr>
          <p:cNvPr id="11" name="Eyebrow"/>
          <p:cNvSpPr txBox="1"/>
          <p:nvPr/>
        </p:nvSpPr>
        <p:spPr>
          <a:xfrm>
            <a:off x="7196328" y="123444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1D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DALL'IDEA AL SENTIERO</a:t>
            </a:r>
            <a:endParaRPr lang="en-US" sz="1100" dirty="0"/>
          </a:p>
        </p:txBody>
      </p:sp>
      <p:sp>
        <p:nvSpPr>
          <p:cNvPr id="12" name="Domanda"/>
          <p:cNvSpPr txBox="1"/>
          <p:nvPr/>
        </p:nvSpPr>
        <p:spPr>
          <a:xfrm>
            <a:off x="6720840" y="157276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600" dirty="0">
                <a:solidFill>
                  <a:srgbClr val="0B0F1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CHE PUNTO</a:t>
            </a:r>
            <a:endParaRPr lang="en-US" sz="5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600" dirty="0">
                <a:solidFill>
                  <a:srgbClr val="E11D2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SIAMO</a:t>
            </a:r>
            <a:pPr algn="l" indent="0" marL="0">
              <a:lnSpc>
                <a:spcPct val="92000"/>
              </a:lnSpc>
              <a:buNone/>
            </a:pPr>
            <a:r>
              <a:rPr lang="en-US" sz="5600" dirty="0">
                <a:solidFill>
                  <a:srgbClr val="0B0F1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?</a:t>
            </a:r>
            <a:endParaRPr lang="en-US" sz="5600" dirty="0"/>
          </a:p>
        </p:txBody>
      </p:sp>
      <p:sp>
        <p:nvSpPr>
          <p:cNvPr id="13" name="Dato: passaggi"/>
          <p:cNvSpPr txBox="1"/>
          <p:nvPr/>
        </p:nvSpPr>
        <p:spPr>
          <a:xfrm>
            <a:off x="6720840" y="31272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dirty="0">
                <a:solidFill>
                  <a:srgbClr val="E11D2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110.000</a:t>
            </a:r>
            <a:endParaRPr lang="en-US" sz="6800" dirty="0"/>
          </a:p>
        </p:txBody>
      </p:sp>
      <p:sp>
        <p:nvSpPr>
          <p:cNvPr id="14" name="Dato: etichetta"/>
          <p:cNvSpPr txBox="1"/>
          <p:nvPr/>
        </p:nvSpPr>
        <p:spPr>
          <a:xfrm>
            <a:off x="672084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963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PASSAGGI L'ANNO AD ALBOSAGGIA · PRIMA POSTAZIONE GIÀ INSTALLATA</a:t>
            </a:r>
            <a:endParaRPr lang="en-US" sz="850" dirty="0"/>
          </a:p>
        </p:txBody>
      </p:sp>
      <p:sp>
        <p:nvSpPr>
          <p:cNvPr id="15" name="Claim"/>
          <p:cNvSpPr txBox="1"/>
          <p:nvPr/>
        </p:nvSpPr>
        <p:spPr>
          <a:xfrm>
            <a:off x="6720840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0B0F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Dalla carta al sentiero, con le mani dei professionisti della rete BNI. </a:t>
            </a:r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59636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La prima colonnina è già in piedi, nel punto più frequentato.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: alba sulla Valtellina, il sentiero verso l’orizzonte" descr="/home/user/presentazione-morbegno/build/img/s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elatura scura" descr="/home/user/presentazione-morbegno/build/assets/ov-centr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Traccia ECG" descr="/home/user/presentazione-morbegno/build/assets/ecg-trace-pa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0240"/>
            <a:ext cx="12191695" cy="1047724"/>
          </a:xfrm>
          <a:prstGeom prst="rect">
            <a:avLst/>
          </a:prstGeom>
        </p:spPr>
      </p:pic>
      <p:pic>
        <p:nvPicPr>
          <p:cNvPr id="5" name="Marchio ECG" descr="/home/user/presentazione-morbegno/build/assets/ecg-mar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9768"/>
            <a:ext cx="457200" cy="314325"/>
          </a:xfrm>
          <a:prstGeom prst="rect">
            <a:avLst/>
          </a:prstGeom>
        </p:spPr>
      </p:pic>
      <p:sp>
        <p:nvSpPr>
          <p:cNvPr id="6" name="Brand"/>
          <p:cNvSpPr txBox="1"/>
          <p:nvPr/>
        </p:nvSpPr>
        <p:spPr>
          <a:xfrm>
            <a:off x="1115568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SENTIERO CARDIO-PROTETTO</a:t>
            </a:r>
            <a:endParaRPr lang="en-US" sz="1300" dirty="0"/>
          </a:p>
        </p:txBody>
      </p:sp>
      <p:sp>
        <p:nvSpPr>
          <p:cNvPr id="7" name="Brand sub"/>
          <p:cNvSpPr txBox="1"/>
          <p:nvPr/>
        </p:nvSpPr>
        <p:spPr>
          <a:xfrm>
            <a:off x="1115568" y="640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BNI VALTELLINA · 10° ANNIVERSARIO</a:t>
            </a:r>
            <a:endParaRPr lang="en-US" sz="750" dirty="0"/>
          </a:p>
        </p:txBody>
      </p:sp>
      <p:sp>
        <p:nvSpPr>
          <p:cNvPr id="8" name="Contatore slide"/>
          <p:cNvSpPr txBox="1"/>
          <p:nvPr/>
        </p:nvSpPr>
        <p:spPr>
          <a:xfrm>
            <a:off x="9811512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3F0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pPr algn="r" indent="0" marL="0">
              <a:buNone/>
            </a:pPr>
            <a:r>
              <a:rPr lang="en-US" sz="1100" b="1" spc="200" kern="0" dirty="0">
                <a:solidFill>
                  <a:srgbClr val="9AA7B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05</a:t>
            </a:r>
            <a:endParaRPr lang="en-US" sz="1100" dirty="0"/>
          </a:p>
        </p:txBody>
      </p:sp>
      <p:pic>
        <p:nvPicPr>
          <p:cNvPr id="9" name="Timer 2 minuti (GIF)" descr="/home/user/presentazione-morbegno/timer-2min-dark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09360"/>
            <a:ext cx="11091672" cy="295778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1371600" y="320040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11D2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· LE IMPRESE DEL TERRITORIO</a:t>
            </a:r>
            <a:endParaRPr lang="en-US" sz="1100" dirty="0"/>
          </a:p>
        </p:txBody>
      </p:sp>
      <p:sp>
        <p:nvSpPr>
          <p:cNvPr id="11" name="Domanda"/>
          <p:cNvSpPr txBox="1"/>
          <p:nvPr/>
        </p:nvSpPr>
        <p:spPr>
          <a:xfrm>
            <a:off x="731520" y="3584448"/>
            <a:ext cx="10725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8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PERCHÉ LA TUA IMPRESA</a:t>
            </a:r>
            <a:endParaRPr lang="en-US" sz="5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58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DOVREBBE </a:t>
            </a:r>
            <a:pPr algn="ctr" indent="0" marL="0">
              <a:lnSpc>
                <a:spcPct val="92000"/>
              </a:lnSpc>
              <a:buNone/>
            </a:pPr>
            <a:r>
              <a:rPr lang="en-US" sz="5800" dirty="0">
                <a:solidFill>
                  <a:srgbClr val="E11D2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ESSERCI</a:t>
            </a:r>
            <a:pPr algn="ctr" indent="0" marL="0">
              <a:lnSpc>
                <a:spcPct val="92000"/>
              </a:lnSpc>
              <a:buNone/>
            </a:pPr>
            <a:r>
              <a:rPr lang="en-US" sz="5800" dirty="0">
                <a:solidFill>
                  <a:srgbClr val="F3F0E9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?</a:t>
            </a:r>
            <a:endParaRPr lang="en-US" sz="5800" dirty="0"/>
          </a:p>
        </p:txBody>
      </p:sp>
      <p:sp>
        <p:nvSpPr>
          <p:cNvPr id="12" name="Claim"/>
          <p:cNvSpPr txBox="1"/>
          <p:nvPr/>
        </p:nvSpPr>
        <p:spPr>
          <a:xfrm>
            <a:off x="1280160" y="5303520"/>
            <a:ext cx="9628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3F0E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Il primo sentiero cardioprotetto d’Europa può nascere dalle imprese valtellinesi. </a:t>
            </a:r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CD5D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Un segno tangibile, per anni, nel punto in cui il territorio passa ogni giorno.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ero Cardio-Protetto">
  <a:themeElements>
    <a:clrScheme name="Sentiero Cardio-Protetto">
      <a:dk1>
        <a:srgbClr val="0B0F12"/>
      </a:dk1>
      <a:lt1>
        <a:srgbClr val="F3F0E9"/>
      </a:lt1>
      <a:dk2>
        <a:srgbClr val="59636B"/>
      </a:dk2>
      <a:lt2>
        <a:srgbClr val="E9E4D9"/>
      </a:lt2>
      <a:accent1>
        <a:srgbClr val="E11D2A"/>
      </a:accent1>
      <a:accent2>
        <a:srgbClr val="C8703C"/>
      </a:accent2>
      <a:accent3>
        <a:srgbClr val="2F4A3F"/>
      </a:accent3>
      <a:accent4>
        <a:srgbClr val="78838C"/>
      </a:accent4>
      <a:accent5>
        <a:srgbClr val="C9A227"/>
      </a:accent5>
      <a:accent6>
        <a:srgbClr val="B07D4E"/>
      </a:accent6>
      <a:hlink>
        <a:srgbClr val="E11D2A"/>
      </a:hlink>
      <a:folHlink>
        <a:srgbClr val="C8703C"/>
      </a:folHlink>
    </a:clrScheme>
    <a:fontScheme name="Sentiero Cardio-Protetto">
      <a:majorFont>
        <a:latin typeface="Ant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Sentieri del Cuore · Presentazione Morbegno, 29 ottobre 2026</dc:title>
  <dc:subject>Sentiero Cardio-Protetto: le 5 domande</dc:subject>
  <dc:creator>Capitolo BNI Valtellina</dc:creator>
  <cp:lastModifiedBy>Capitolo BNI Valtellina</cp:lastModifiedBy>
  <cp:revision>1</cp:revision>
  <dcterms:created xsi:type="dcterms:W3CDTF">2026-10-28T15:09:16Z</dcterms:created>
  <dcterms:modified xsi:type="dcterms:W3CDTF">2026-10-28T15:09:16Z</dcterms:modified>
</cp:coreProperties>
</file>